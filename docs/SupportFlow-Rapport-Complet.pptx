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92000"/>
            </a:srgbClr>
          </a:solidFill>
          <a:ln w="12700">
            <a:solidFill>
              <a:srgbClr val="163252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32918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Rapport complet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SupportFlow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Plateforme complete de gestion des tickets support avec workflow, securite, GED, reporting et GitOps.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9692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Ce support resume l ensemble du projet: besoin metier, architecture, fonctionnalites, integrations, qualite logicielle et demonstration.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288036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08376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Backend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04672" y="3264408"/>
            <a:ext cx="1719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Spring Boot 3 / Java 17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2816352" y="288036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3008376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Frontend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962656" y="3264408"/>
            <a:ext cx="1719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Angular 17 + PrimeNG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4974336" y="288036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7185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008376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SSO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120640" y="3264408"/>
            <a:ext cx="1719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Keycloak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7132320" y="288036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3008376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Workflow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278624" y="3264408"/>
            <a:ext cx="1719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Camunda BPM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9290304" y="2880360"/>
            <a:ext cx="2011680" cy="1005840"/>
          </a:xfrm>
          <a:prstGeom prst="roundRect">
            <a:avLst>
              <a:gd name="adj" fmla="val 10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36608" y="3008376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GED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436608" y="3264408"/>
            <a:ext cx="1719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Alfresco + JasperReports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58368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Auteur: Mejri Oussama | Projet de stage | Support client et supervision metier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92000"/>
            </a:srgbClr>
          </a:solidFill>
          <a:ln w="12700">
            <a:solidFill>
              <a:srgbClr val="163252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329184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</a:rPr>
              <a:t>Vision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Problematique et objectifs du projet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SupportFlow repond au besoin de structurer et automatiser le support client.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Centraliser la creation, l assignation, le suivi et la cloture des tickets dans une interface unique.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Rendre les parcours client, agent et manager coherents, lisibles et securises.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Piloter les priorites et les delais de traitement via des regles SLA metier.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Conserver les preuves documentaires, les rapports et l historique des actions.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Industrialiser la livraison applicative avec CI/CD, containers, GitOps et controle qualite.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92000"/>
            </a:srgbClr>
          </a:solidFill>
          <a:ln w="12700">
            <a:solidFill>
              <a:srgbClr val="163252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32918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Perimetre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Acteurs metier et experiences ciblees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Le projet couvre quatre profils et un parcours adapte a chacun.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2423160" cy="1143000"/>
          </a:xfrm>
          <a:prstGeom prst="roundRect">
            <a:avLst>
              <a:gd name="adj" fmla="val 88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093976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Client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69264" y="2350008"/>
            <a:ext cx="213055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Creer un ticket, suivre, repondre, valider ou refuser.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3337560" y="1965960"/>
            <a:ext cx="2423160" cy="1143000"/>
          </a:xfrm>
          <a:prstGeom prst="roundRect">
            <a:avLst>
              <a:gd name="adj" fmla="val 88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864" y="2093976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Agent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3483864" y="2350008"/>
            <a:ext cx="213055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Prendre en charge, collaborer, resoudre, reprendre apres reponse client.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5852160" y="1965960"/>
            <a:ext cx="2423160" cy="1143000"/>
          </a:xfrm>
          <a:prstGeom prst="roundRect">
            <a:avLst>
              <a:gd name="adj" fmla="val 88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2093976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Manager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998464" y="2350008"/>
            <a:ext cx="213055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Superviser, assigner, arbitrer, piloter le SLA et l equipe.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8366760" y="1965960"/>
            <a:ext cx="2057400" cy="1143000"/>
          </a:xfrm>
          <a:prstGeom prst="roundRect">
            <a:avLst>
              <a:gd name="adj" fmla="val 88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7185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13064" y="2093976"/>
            <a:ext cx="1764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Admin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513064" y="2350008"/>
            <a:ext cx="176479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Administrer l application, les utilisateurs et les integrations.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868680" y="374904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Le detail ticket est un ecran commun, mais adapte par role.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Le client dispose d un portail dedie Mes tickets.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L agent dispose d un workbench oriente execution.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Le manager dispose d un dashboard et d une file de supervision.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92000"/>
            </a:srgbClr>
          </a:solidFill>
          <a:ln w="12700">
            <a:solidFill>
              <a:srgbClr val="163252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329184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Fonctionnalites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Modules fonctionnels principaux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Le projet depasse le simple CRUD ticket et couvre le cycle complet de support.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4983480" cy="310896"/>
          </a:xfrm>
          <a:prstGeom prst="roundRect">
            <a:avLst>
              <a:gd name="adj" fmla="val 23529"/>
            </a:avLst>
          </a:prstGeom>
          <a:solidFill>
            <a:srgbClr val="102641"/>
          </a:solidFill>
          <a:ln w="12700">
            <a:solidFill>
              <a:srgbClr val="1026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993392"/>
            <a:ext cx="47274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Modules coeur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Tickets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Commentaires publics et internes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Clients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Utilisateurs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Notifications temps reel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Profils et preferences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126480" y="1920240"/>
            <a:ext cx="5074920" cy="310896"/>
          </a:xfrm>
          <a:prstGeom prst="roundRect">
            <a:avLst>
              <a:gd name="adj" fmla="val 23529"/>
            </a:avLst>
          </a:prstGeom>
          <a:solidFill>
            <a:srgbClr val="102641"/>
          </a:solidFill>
          <a:ln w="12700">
            <a:solidFill>
              <a:srgbClr val="1026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993392"/>
            <a:ext cx="48188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Modules avancees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72200" y="233172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Dashboard manager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Agent workbench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AI Assistant et base de connaissance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GED Alfresco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Reporting Jasper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PWA / service worker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92000"/>
            </a:srgbClr>
          </a:solidFill>
          <a:ln w="12700">
            <a:solidFill>
              <a:srgbClr val="163252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32918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Architecture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Vue technique du systeme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Le front Angular dialogue avec un backend Spring Boot et plusieurs services externes.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2103120" cy="960120"/>
          </a:xfrm>
          <a:prstGeom prst="roundRect">
            <a:avLst>
              <a:gd name="adj" fmla="val 10476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185416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Interface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69264" y="2441448"/>
            <a:ext cx="18105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Angular 17, PrimeNG, PWA, WebSocket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3154680" y="2057400"/>
            <a:ext cx="2148840" cy="960120"/>
          </a:xfrm>
          <a:prstGeom prst="roundRect">
            <a:avLst>
              <a:gd name="adj" fmla="val 10476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2185416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Metier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3300984" y="2441448"/>
            <a:ext cx="18562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Spring Boot, JPA, REST, securite JWT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5532120" y="2057400"/>
            <a:ext cx="1874520" cy="960120"/>
          </a:xfrm>
          <a:prstGeom prst="roundRect">
            <a:avLst>
              <a:gd name="adj" fmla="val 10476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78424" y="2185416"/>
            <a:ext cx="1581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Workflow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678424" y="2441448"/>
            <a:ext cx="1581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Camunda BPM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7635240" y="2057400"/>
            <a:ext cx="1691640" cy="960120"/>
          </a:xfrm>
          <a:prstGeom prst="roundRect">
            <a:avLst>
              <a:gd name="adj" fmla="val 10476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7185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81544" y="2185416"/>
            <a:ext cx="1399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SSO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781544" y="2441448"/>
            <a:ext cx="13990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Keycloak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9555480" y="2057400"/>
            <a:ext cx="1737360" cy="960120"/>
          </a:xfrm>
          <a:prstGeom prst="roundRect">
            <a:avLst>
              <a:gd name="adj" fmla="val 10476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01784" y="2185416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Data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9701784" y="2441448"/>
            <a:ext cx="14447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MySQL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868680" y="347472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Alfresco gere les documents et les archives du support.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JasperReports produit les rapports mensuels PDF et Excel.</a:t>
            </a:r>
            <a:endParaRPr lang="en-US" sz="1550" dirty="0"/>
          </a:p>
          <a:p>
            <a:pPr marL="190500" indent="-190500">
              <a:buSzPct val="100000"/>
              <a:buChar char="•"/>
            </a:pPr>
            <a:r>
              <a:rPr lang="en-US" sz="1550" dirty="0">
                <a:solidFill>
                  <a:srgbClr val="F8FAFC"/>
                </a:solidFill>
              </a:rPr>
              <a:t>GitHub Actions, GHCR, Kubernetes et ArgoCD automatisent la livraison.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92000"/>
            </a:srgbClr>
          </a:solidFill>
          <a:ln w="12700">
            <a:solidFill>
              <a:srgbClr val="163252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3291840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Processus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Cycle de vie du ticket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Le workflow support est lisible, trace et compatible avec les scenarios metier reels.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55321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Creation du ticket par le client ou le staff avec priorite, client et categorie.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Assignation manager ou prise en charge par un agent selon les permissions.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Passage en traitement, commentaires, pieces jointes et supervision.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Mise en attente client avec motif et reprise automatique apres reponse.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Resolution structuree puis validation, refus ou cloture.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Archivage documentaire et reporting en fin de cycle.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766560" y="2011680"/>
            <a:ext cx="192024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12864" y="2139696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Statuts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912864" y="239572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NEW / OPEN / IN_PROGRESS / PENDING / RESOLVED / CLOSED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915400" y="2011680"/>
            <a:ext cx="192024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7185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61704" y="2139696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Evenements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9061704" y="239572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Historique et notifications associes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766560" y="3154680"/>
            <a:ext cx="192024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12864" y="3282696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Client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912864" y="353872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Validation ou refus motive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8915400" y="3154680"/>
            <a:ext cx="192024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61704" y="3282696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Manager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9061704" y="353872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Revue, escalade, prolongation SLA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92000"/>
            </a:srgbClr>
          </a:solidFill>
          <a:ln w="12700">
            <a:solidFill>
              <a:srgbClr val="163252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329184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</a:rPr>
              <a:t>Parcours metier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Ce que voit chaque role dans l application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 UX a ete specialisee par profil pour eviter les actions incoherentes.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3383280" cy="310896"/>
          </a:xfrm>
          <a:prstGeom prst="roundRect">
            <a:avLst>
              <a:gd name="adj" fmla="val 23529"/>
            </a:avLst>
          </a:prstGeom>
          <a:solidFill>
            <a:srgbClr val="102641"/>
          </a:solidFill>
          <a:ln w="12700">
            <a:solidFill>
              <a:srgbClr val="1026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993392"/>
            <a:ext cx="3127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Client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Creation ticket avec suggestions KB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Portail Mes tickets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Suivi de l action attendue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Validation ou refus de resolution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83280" cy="310896"/>
          </a:xfrm>
          <a:prstGeom prst="roundRect">
            <a:avLst>
              <a:gd name="adj" fmla="val 23529"/>
            </a:avLst>
          </a:prstGeom>
          <a:solidFill>
            <a:srgbClr val="102641"/>
          </a:solidFill>
          <a:ln w="12700">
            <a:solidFill>
              <a:srgbClr val="1026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993392"/>
            <a:ext cx="3127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Agent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34840" y="228600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Workbench a prendre / a reprendre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Traitement et commentaires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Attente client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Resolution structuree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955280" y="1920240"/>
            <a:ext cx="3291840" cy="310896"/>
          </a:xfrm>
          <a:prstGeom prst="roundRect">
            <a:avLst>
              <a:gd name="adj" fmla="val 23529"/>
            </a:avLst>
          </a:prstGeom>
          <a:solidFill>
            <a:srgbClr val="102641"/>
          </a:solidFill>
          <a:ln w="12700">
            <a:solidFill>
              <a:srgbClr val="1026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83296" y="1993392"/>
            <a:ext cx="3035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Manager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01000" y="22860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Dashboard de supervision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Assignation / reequilibrage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Revues et alertes SLA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Vue backlog et notifications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92000"/>
            </a:srgbClr>
          </a:solidFill>
          <a:ln w="12700">
            <a:solidFill>
              <a:srgbClr val="163252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3291840" cy="0"/>
          </a:xfrm>
          <a:prstGeom prst="line">
            <a:avLst/>
          </a:prstGeom>
          <a:noFill/>
          <a:ln w="12700">
            <a:solidFill>
              <a:srgbClr val="FB71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</a:rPr>
              <a:t>Securite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Authentication, roles et gouvernance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La securite n est pas un ajout cosmetique mais un pilier du projet.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5486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SSO et federation d identite via Keycloak.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Provisioning des comptes crees dans l application vers Keycloak.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Roles differencies: CLIENT, SUPPORT_AGENT, SUPPORT_MANAGER, ADMIN.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Reset mot de passe par email et rotation imposee au prochain login.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Controles d autorisation au niveau frontend et backend.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766560" y="2011680"/>
            <a:ext cx="196596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7185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12864" y="2139696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Comptes demo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912864" y="2395728"/>
            <a:ext cx="1673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admin / manager / agent1 / client1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961120" y="2011680"/>
            <a:ext cx="196596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07424" y="2139696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Securite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9107424" y="2395728"/>
            <a:ext cx="1673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JWT + roles + sync Keycloak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766560" y="3154680"/>
            <a:ext cx="196596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12864" y="3282696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UI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912864" y="3538728"/>
            <a:ext cx="1673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Actions masquees selon permissions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8961120" y="3154680"/>
            <a:ext cx="196596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07424" y="3282696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Ops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9107424" y="3538728"/>
            <a:ext cx="1673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Page profil + portail securite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92000"/>
            </a:srgbClr>
          </a:solidFill>
          <a:ln w="12700">
            <a:solidFill>
              <a:srgbClr val="163252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3291840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Supervision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SLA, escalade et pilotage manager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Le coeur metier du projet est la capacite a superviser un support reel.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5669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SLA metier avec statut operationnel, temps restant, pause et hors horaires.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Escalade manuelle par agent ou manager et escalade automatique sur risque ou depassement SLA.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Logique par niveaux: niveau 1 reassignment, niveau 2 revue manager, niveau 3 takeover.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Declencheurs metier: SLA_AT_RISK, SLA_BREACHED, ASSIGNED_STUCK, MANUAL_MANAGER_REVIEW.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Segments manager: sans owner, attente client, resolution refusee, bloque, risque SLA.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812280" y="2011680"/>
            <a:ext cx="196596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8584" y="2139696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SLA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958584" y="2395728"/>
            <a:ext cx="1673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24/7 ou heures ouvrees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006840" y="2011680"/>
            <a:ext cx="196596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53144" y="2139696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Escalade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9153144" y="2395728"/>
            <a:ext cx="1673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L1 reassignment / L2 revue / L3 takeover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812280" y="3154680"/>
            <a:ext cx="196596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7185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58584" y="3282696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Manager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958584" y="3538728"/>
            <a:ext cx="1673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file d action priorisee + alertes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9006840" y="3154680"/>
            <a:ext cx="196596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53144" y="3282696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Equipe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9153144" y="3538728"/>
            <a:ext cx="1673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charge, backlog, temps reel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92000"/>
            </a:srgbClr>
          </a:solidFill>
          <a:ln w="12700">
            <a:solidFill>
              <a:srgbClr val="163252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329184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Capitalisation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IA, base de connaissance, GED et reporting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Le projet transforme la resolution en patrimoine reutilisable.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5577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60" dirty="0">
                <a:solidFill>
                  <a:srgbClr val="F8FAFC"/>
                </a:solidFill>
              </a:rPr>
              <a:t>AI Assistant pour analyser un ticket, generer un resume operationnel et proposer une reponse.</a:t>
            </a:r>
            <a:endParaRPr lang="en-US" sz="1460" dirty="0"/>
          </a:p>
          <a:p>
            <a:pPr marL="190500" indent="-190500">
              <a:buSzPct val="100000"/>
              <a:buChar char="•"/>
            </a:pPr>
            <a:r>
              <a:rPr lang="en-US" sz="1460" dirty="0">
                <a:solidFill>
                  <a:srgbClr val="F8FAFC"/>
                </a:solidFill>
              </a:rPr>
              <a:t>Suggestions KB pendant la creation du ticket client et pendant le traitement support.</a:t>
            </a:r>
            <a:endParaRPr lang="en-US" sz="1460" dirty="0"/>
          </a:p>
          <a:p>
            <a:pPr marL="190500" indent="-190500">
              <a:buSzPct val="100000"/>
              <a:buChar char="•"/>
            </a:pPr>
            <a:r>
              <a:rPr lang="en-US" sz="1460" dirty="0">
                <a:solidFill>
                  <a:srgbClr val="F8FAFC"/>
                </a:solidFill>
              </a:rPr>
              <a:t>Creation d articles de base de connaissance depuis un ticket resolu.</a:t>
            </a:r>
            <a:endParaRPr lang="en-US" sz="1460" dirty="0"/>
          </a:p>
          <a:p>
            <a:pPr marL="190500" indent="-190500">
              <a:buSzPct val="100000"/>
              <a:buChar char="•"/>
            </a:pPr>
            <a:r>
              <a:rPr lang="en-US" sz="1460" dirty="0">
                <a:solidFill>
                  <a:srgbClr val="F8FAFC"/>
                </a:solidFill>
              </a:rPr>
              <a:t>Resume d escalade et aide contextuelle dans le detail ticket et l assistant IA.</a:t>
            </a:r>
            <a:endParaRPr lang="en-US" sz="1460" dirty="0"/>
          </a:p>
          <a:p>
            <a:pPr marL="190500" indent="-190500">
              <a:buSzPct val="100000"/>
              <a:buChar char="•"/>
            </a:pPr>
            <a:r>
              <a:rPr lang="en-US" sz="1460" dirty="0">
                <a:solidFill>
                  <a:srgbClr val="F8FAFC"/>
                </a:solidFill>
              </a:rPr>
              <a:t>Integration Alfresco Share pour les documents lies et les archives.</a:t>
            </a:r>
            <a:endParaRPr lang="en-US" sz="1460" dirty="0"/>
          </a:p>
          <a:p>
            <a:pPr marL="190500" indent="-190500">
              <a:buSzPct val="100000"/>
              <a:buChar char="•"/>
            </a:pPr>
            <a:r>
              <a:rPr lang="en-US" sz="1460" dirty="0">
                <a:solidFill>
                  <a:srgbClr val="F8FAFC"/>
                </a:solidFill>
              </a:rPr>
              <a:t>Arborescence documentaire visible depuis le detail ticket.</a:t>
            </a:r>
            <a:endParaRPr lang="en-US" sz="1460" dirty="0"/>
          </a:p>
          <a:p>
            <a:pPr marL="190500" indent="-190500">
              <a:buSzPct val="100000"/>
              <a:buChar char="•"/>
            </a:pPr>
            <a:r>
              <a:rPr lang="en-US" sz="1460" dirty="0">
                <a:solidFill>
                  <a:srgbClr val="F8FAFC"/>
                </a:solidFill>
              </a:rPr>
              <a:t>Rapports mensuels JasperReports en PDF et Excel.</a:t>
            </a:r>
            <a:endParaRPr lang="en-US" sz="1460" dirty="0"/>
          </a:p>
        </p:txBody>
      </p:sp>
      <p:sp>
        <p:nvSpPr>
          <p:cNvPr id="9" name="Shape 7"/>
          <p:cNvSpPr/>
          <p:nvPr/>
        </p:nvSpPr>
        <p:spPr>
          <a:xfrm>
            <a:off x="6812280" y="2011680"/>
            <a:ext cx="192024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8584" y="2139696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IA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958584" y="239572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analyse, resume, suggestion de reponse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961120" y="2011680"/>
            <a:ext cx="192024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07424" y="2139696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KB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9107424" y="239572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articles lies et suggestions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812280" y="3154680"/>
            <a:ext cx="192024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58584" y="3282696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GED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958584" y="353872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Alfresco Share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8961120" y="3154680"/>
            <a:ext cx="192024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7185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07424" y="3282696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Rapports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9107424" y="353872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Jasper PDF / XLSX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92000"/>
            </a:srgbClr>
          </a:solidFill>
          <a:ln w="12700">
            <a:solidFill>
              <a:srgbClr val="163252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32918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DevOps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GitHub Actions, Kubernetes, ArgoCD, SonarQube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La livraison est automatisee et alignée sur une demarche GitOps.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55321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GitHub Actions construit le backend et le frontend, lance le scan securite et l analyse SonarQube.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Les images Docker sont poussees vers GHCR.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Les manifests Kubernetes sont versionnes dans le depot.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ArgoCD synchronise le cluster a partir du Git et controle l etat Healthy / Synced.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Le cluster local et les overlays staging / prod permettent une demonstration claire.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766560" y="2011680"/>
            <a:ext cx="196596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12864" y="2139696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CI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912864" y="2395728"/>
            <a:ext cx="1673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Build backend / frontend / scan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961120" y="2011680"/>
            <a:ext cx="196596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07424" y="2139696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Registry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9107424" y="2395728"/>
            <a:ext cx="1673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GHCR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766560" y="3154680"/>
            <a:ext cx="196596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12864" y="3282696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GitOps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912864" y="3538728"/>
            <a:ext cx="1673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Kubernetes + ArgoCD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8961120" y="3154680"/>
            <a:ext cx="1965960" cy="914400"/>
          </a:xfrm>
          <a:prstGeom prst="roundRect">
            <a:avLst>
              <a:gd name="adj" fmla="val 11000"/>
            </a:avLst>
          </a:prstGeom>
          <a:solidFill>
            <a:srgbClr val="0D2545">
              <a:alpha val="95000"/>
            </a:srgbClr>
          </a:solidFill>
          <a:ln w="12700">
            <a:solidFill>
              <a:srgbClr val="FB7185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07424" y="3282696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4A3B8"/>
                </a:solidFill>
              </a:rPr>
              <a:t>Qualite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9107424" y="3538728"/>
            <a:ext cx="1673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SonarQube + Trivy</a:t>
            </a: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92000"/>
            </a:srgbClr>
          </a:solidFill>
          <a:ln w="12700">
            <a:solidFill>
              <a:srgbClr val="163252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329184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</a:rPr>
              <a:t>Validation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Ce qui a ete verifie dans le projet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Le projet a ete teste sur les parcours critiques et sur la chaine technique.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0241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Build backend et build frontend reussis.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Parcours client, agent et manager verifies sur les scenarios principaux.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Reset password, Alfresco Share, Camunda Cockpit et reporting verifies.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Workflow GitHub Actions valide avec build, security scan, SonarQube et push d images.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Cluster local Kubernetes et ArgoCD verifies en mode Synced / Healthy.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92000"/>
            </a:srgbClr>
          </a:solidFill>
          <a:ln w="12700">
            <a:solidFill>
              <a:srgbClr val="163252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3291840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Demonstration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Scenario conseille pour la soutenance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Un parcours simple permet de montrer rapidement toute la valeur du projet.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00584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1. Le client cree un ticket avec proposition d article KB.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2. Le manager assigne le ticket depuis le detail ou le dashboard.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3. L agent prend en charge, commente, met en attente client puis reprend.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4. L agent produit une resolution structuree.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5. Le client valide ou refuse la resolution.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6. Le manager consulte la supervision, la GED et le rapport mensuel.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7. En parallele, on montre GitHub Actions, SonarQube et ArgoCD.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92000"/>
            </a:srgbClr>
          </a:solidFill>
          <a:ln w="12700">
            <a:solidFill>
              <a:srgbClr val="163252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32918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Bilan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9326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Forces du projet et perspectives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SupportFlow constitue une base solide, demonstrable et evolutive.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0058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Couverture fonctionnelle large: tickets, supervision, KB, GED, reporting.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Architecture moderne et outillee: Spring Boot, Angular, Keycloak, Camunda, Alfresco.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Demarche DevOps visible: CI/CD, GHCR, Kubernetes, ArgoCD, SonarQube.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Perspectives possibles: analytics plus fines, SLA avances, autonomie client encore plus forte.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5577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Merci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SupportFlow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SupportFlow - Rapport complet</dc:title>
  <dc:subject>Rapport complet du projet SupportFlow</dc:subject>
  <dc:creator>OpenAI Codex</dc:creator>
  <cp:lastModifiedBy>OpenAI Codex</cp:lastModifiedBy>
  <cp:revision>1</cp:revision>
  <dcterms:created xsi:type="dcterms:W3CDTF">2026-06-02T22:25:46Z</dcterms:created>
  <dcterms:modified xsi:type="dcterms:W3CDTF">2026-06-02T22:25:46Z</dcterms:modified>
</cp:coreProperties>
</file>